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MERKENのトップページ（未ログイン時のランディングページ）の内容をスライドにしたものです。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ヒーローの数字はLPと同じ（4抽出モード・共有単語帳の取込は無料・リールは無料プランで1日50枚・無料保存枠100語）。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LPの「01 HOW IT WORKS」セクションと同じ4ステップ。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抽出モードは4種類。Proではユーザ定義のカスタム抽出モードも使える。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LPの「02 WORD DETAIL」に対応。take care のような複数語表現も1件として扱う。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LPでは登録前にフラッシュカードと4択クイズをその場で試せる。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語源つきカードは接頭辞・語根・接尾辞まで1画面。出典の単語帳はワンタップで取り込める。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ホーム画面には連続学習日数、クイズ導線、最近の単語帳が並ぶ。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Proは月額300円。無料プランは共有単語帳の取り込みと基本の復習まで。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LP末尾のCTAと同じ文言。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467" y="529346"/>
            <a:ext cx="55798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E R K E 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34467" y="2117385"/>
            <a:ext cx="55798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VOCABULARY NOTEBOOK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34467" y="2571110"/>
            <a:ext cx="5579833" cy="1814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手入力ゼロで、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単語帳。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34467" y="4612874"/>
            <a:ext cx="5579833" cy="105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教科書・ノート・プリントを撮影するだけ。AIが英単語、和訳、例文、発音記号、クイズ素材を作り、あなた専用の単語帳として保存できます。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4467" y="675330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www.merken.jp</a:t>
            </a:r>
            <a:endParaRPr lang="en-US" sz="1100" dirty="0"/>
          </a:p>
        </p:txBody>
      </p:sp>
      <p:pic>
        <p:nvPicPr>
          <p:cNvPr id="7" name="Image 0" descr="output/pptx/shots/flashcard-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9116" y="2268626"/>
            <a:ext cx="3655753" cy="31760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467" y="415915"/>
            <a:ext cx="9620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4467" y="671947"/>
            <a:ext cx="9620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写真から、単語帳ができる。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34467" y="1588038"/>
            <a:ext cx="9620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科書・ノート・プリントを撮影するだけ。AIが英単語、和訳、例文、発音記号、クイズ素材を作り、あなた専用の単語帳として保存できます（AIスキャンはProプラン）。無料でも共有ライブラリから単語帳を取り込んで、すぐに学習を始められ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4467" y="2200686"/>
            <a:ext cx="2220710" cy="2519594"/>
          </a:xfrm>
          <a:prstGeom prst="roundRect">
            <a:avLst>
              <a:gd name="adj" fmla="val 411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3067" y="2704605"/>
            <a:ext cx="1763510" cy="100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63067" y="3863619"/>
            <a:ext cx="1763510" cy="70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抽出モード（Pro）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01031" y="2200686"/>
            <a:ext cx="2220710" cy="2519594"/>
          </a:xfrm>
          <a:prstGeom prst="roundRect">
            <a:avLst>
              <a:gd name="adj" fmla="val 411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29631" y="2704605"/>
            <a:ext cx="1763510" cy="100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229631" y="3863619"/>
            <a:ext cx="1763510" cy="70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共有単語帳の取込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67595" y="2200686"/>
            <a:ext cx="2220710" cy="2519594"/>
          </a:xfrm>
          <a:prstGeom prst="roundRect">
            <a:avLst>
              <a:gd name="adj" fmla="val 411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696195" y="2704605"/>
            <a:ext cx="1763510" cy="100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1日50枚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696195" y="3863619"/>
            <a:ext cx="1763510" cy="70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リール（無料プラン）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34160" y="2200686"/>
            <a:ext cx="2220710" cy="2519594"/>
          </a:xfrm>
          <a:prstGeom prst="roundRect">
            <a:avLst>
              <a:gd name="adj" fmla="val 411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162760" y="2704605"/>
            <a:ext cx="1763510" cy="100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100語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162760" y="3863619"/>
            <a:ext cx="1763510" cy="705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無料保存枠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4467" y="4966135"/>
            <a:ext cx="9620402" cy="2061486"/>
          </a:xfrm>
          <a:prstGeom prst="roundRect">
            <a:avLst>
              <a:gd name="adj" fmla="val 4436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54507" y="5543351"/>
            <a:ext cx="8980322" cy="927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スキャンはProプラン。無料プランでも共有ライブラリの単語帳を取り込んで、クイズとフラッシュカードで学習できます。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467" y="415915"/>
            <a:ext cx="9620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4467" y="671947"/>
            <a:ext cx="9620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撮る、確認する、覚える。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34467" y="1588038"/>
            <a:ext cx="96204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手入力やコピペを前提にせず、教材の写真から単語帳を作ります。登録後すぐにホーム、単語帳、クイズへ進める構成です。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4467" y="1994946"/>
            <a:ext cx="2220710" cy="4061948"/>
          </a:xfrm>
          <a:prstGeom prst="roundRect">
            <a:avLst>
              <a:gd name="adj" fmla="val 411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0499" y="2269266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499" y="236985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90499" y="2909346"/>
            <a:ext cx="17086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0499" y="3165378"/>
            <a:ext cx="1708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90499" y="3640866"/>
            <a:ext cx="1708646" cy="214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ノート、教科書、プリントをカメラで撮影するか、写真から選びます。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01031" y="1994946"/>
            <a:ext cx="2220710" cy="4061948"/>
          </a:xfrm>
          <a:prstGeom prst="roundRect">
            <a:avLst>
              <a:gd name="adj" fmla="val 411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7063" y="2269266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57063" y="236985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57063" y="2909346"/>
            <a:ext cx="17086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257063" y="3165378"/>
            <a:ext cx="1708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抽出する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257063" y="3640866"/>
            <a:ext cx="1708646" cy="214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AIが英単語、和訳、品詞、例文、発音記号の候補を作ります。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67595" y="1994946"/>
            <a:ext cx="2220710" cy="4061948"/>
          </a:xfrm>
          <a:prstGeom prst="roundRect">
            <a:avLst>
              <a:gd name="adj" fmla="val 411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23627" y="2269266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23627" y="236985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723627" y="2909346"/>
            <a:ext cx="17086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723627" y="3165378"/>
            <a:ext cx="1708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確認して保存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723627" y="3640866"/>
            <a:ext cx="1708646" cy="214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抽出結果を確認し、必要なら編集して自分の単語帳へ追加します。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34160" y="1994946"/>
            <a:ext cx="2220710" cy="4061948"/>
          </a:xfrm>
          <a:prstGeom prst="roundRect">
            <a:avLst>
              <a:gd name="adj" fmla="val 411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90192" y="2269266"/>
            <a:ext cx="502920" cy="5029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90192" y="2369850"/>
            <a:ext cx="502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190192" y="2909346"/>
            <a:ext cx="17086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190192" y="3165378"/>
            <a:ext cx="17086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覚える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190192" y="3640866"/>
            <a:ext cx="1708646" cy="214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4択、語順クイズ、フラッシュカードで復習し、習得度を記録します。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467" y="415915"/>
            <a:ext cx="9620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MODES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4467" y="671947"/>
            <a:ext cx="9620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目的に合わせて、抽出方法を選ぶ。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34467" y="1588038"/>
            <a:ext cx="634946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まずは「すべての単語」で広く取り込み、必要に応じて丸囲み、英検、熟語・イディオムへ切り替えます。抽出後は確認画面で編集してから保存できます（スキャンはProプランの機能です）。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4467" y="2406426"/>
            <a:ext cx="3051805" cy="2187670"/>
          </a:xfrm>
          <a:prstGeom prst="roundRect">
            <a:avLst>
              <a:gd name="adj" fmla="val 418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53923" y="2589306"/>
            <a:ext cx="26128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単語帳取込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3923" y="2827050"/>
            <a:ext cx="26128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単語帳の単語を抽出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3923" y="3211098"/>
            <a:ext cx="2612893" cy="118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単語帳やノートに「英単語＋日本語訳」のペアで載っている単語だけを取り込みます。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32127" y="2406426"/>
            <a:ext cx="3051805" cy="2187670"/>
          </a:xfrm>
          <a:prstGeom prst="roundRect">
            <a:avLst>
              <a:gd name="adj" fmla="val 418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051583" y="2589306"/>
            <a:ext cx="26128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丸囲み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51583" y="2827050"/>
            <a:ext cx="26128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覚えたい単語だけ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51583" y="3211098"/>
            <a:ext cx="2612893" cy="118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ペンで丸を付けた単語を優先して抽出。授業中に印を付けた紙面をそのまま使えます。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4467" y="4839951"/>
            <a:ext cx="3051805" cy="2187670"/>
          </a:xfrm>
          <a:prstGeom prst="roundRect">
            <a:avLst>
              <a:gd name="adj" fmla="val 418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3923" y="5022831"/>
            <a:ext cx="26128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英検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53923" y="5260575"/>
            <a:ext cx="26128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級に合わせて選別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3923" y="5644623"/>
            <a:ext cx="2612893" cy="118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5級から1級まで、選んだ英検レベルに合わせて単語を抽出します。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32127" y="4839951"/>
            <a:ext cx="3051805" cy="2187670"/>
          </a:xfrm>
          <a:prstGeom prst="roundRect">
            <a:avLst>
              <a:gd name="adj" fmla="val 4180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051583" y="5022831"/>
            <a:ext cx="26128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熟語・イディオム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051583" y="5260575"/>
            <a:ext cx="26128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複数語の表現も保存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051583" y="5644623"/>
            <a:ext cx="2612893" cy="118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care のような複数語の表現も、単語帳とクイズの対象にできます。</a:t>
            </a:r>
            <a:endParaRPr lang="en-US" sz="1050" dirty="0"/>
          </a:p>
        </p:txBody>
      </p:sp>
      <p:pic>
        <p:nvPicPr>
          <p:cNvPr id="21" name="Image 0" descr="public/lp/scan-mod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29787" y="1588038"/>
            <a:ext cx="3025082" cy="54395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467" y="415915"/>
            <a:ext cx="9620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DETAIL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4467" y="671947"/>
            <a:ext cx="9620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保存した単語は、学習用データになる。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34467" y="1588038"/>
            <a:ext cx="4232977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和訳だけでなく、例文、品詞、発音記号、クイズ用の選択肢を持てる構造です。2語以上の表現は語順クイズとして扱い、4択だけに寄せすぎないようにしています。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4467" y="2406426"/>
            <a:ext cx="4232977" cy="727555"/>
          </a:xfrm>
          <a:prstGeom prst="roundRect">
            <a:avLst>
              <a:gd name="adj" fmla="val 12568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0499" y="2588315"/>
            <a:ext cx="3720913" cy="3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和訳・品詞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4467" y="3379836"/>
            <a:ext cx="4232977" cy="727555"/>
          </a:xfrm>
          <a:prstGeom prst="roundRect">
            <a:avLst>
              <a:gd name="adj" fmla="val 1256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0499" y="3561725"/>
            <a:ext cx="3720913" cy="3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例文（英日）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4467" y="4353246"/>
            <a:ext cx="4232977" cy="727555"/>
          </a:xfrm>
          <a:prstGeom prst="roundRect">
            <a:avLst>
              <a:gd name="adj" fmla="val 1256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90499" y="4535135"/>
            <a:ext cx="3720913" cy="3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発音記号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4467" y="5326656"/>
            <a:ext cx="4232977" cy="727555"/>
          </a:xfrm>
          <a:prstGeom prst="roundRect">
            <a:avLst>
              <a:gd name="adj" fmla="val 1256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90499" y="5508545"/>
            <a:ext cx="3720913" cy="3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クイズ用の選択肢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4467" y="6300066"/>
            <a:ext cx="4232977" cy="727555"/>
          </a:xfrm>
          <a:prstGeom prst="roundRect">
            <a:avLst>
              <a:gd name="adj" fmla="val 12568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90499" y="6481955"/>
            <a:ext cx="3720913" cy="3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習得度・復習履歴</a:t>
            </a:r>
            <a:endParaRPr lang="en-US" sz="1250" dirty="0"/>
          </a:p>
        </p:txBody>
      </p:sp>
      <p:pic>
        <p:nvPicPr>
          <p:cNvPr id="15" name="Image 0" descr="output/pptx/shots/word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13299" y="2406426"/>
            <a:ext cx="5141571" cy="277271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013299" y="5270583"/>
            <a:ext cx="51415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単語カードの例（LPの実画面）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467" y="415915"/>
            <a:ext cx="9620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4467" y="671947"/>
            <a:ext cx="9620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4つの復習の形。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34467" y="1588038"/>
            <a:ext cx="48102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保存した単語は、4択・語順・カードの3系統で復習できます。結果は習得度に反映されます。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4467" y="2200686"/>
            <a:ext cx="2282173" cy="2290540"/>
          </a:xfrm>
          <a:prstGeom prst="roundRect">
            <a:avLst>
              <a:gd name="adj" fmla="val 4007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53923" y="2420142"/>
            <a:ext cx="18432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4択クイズ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3923" y="2804190"/>
            <a:ext cx="1843261" cy="14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AIが用意した選択肢でテンポよく復習。正答結果は単語の習得度に反映されます。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62495" y="2200686"/>
            <a:ext cx="2282173" cy="2290540"/>
          </a:xfrm>
          <a:prstGeom prst="roundRect">
            <a:avLst>
              <a:gd name="adj" fmla="val 4007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81951" y="2420142"/>
            <a:ext cx="18432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語順クイズ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81951" y="2804190"/>
            <a:ext cx="1843261" cy="14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2語以上の表現は、下の単語を選んで並べる形式のクイズとして出題できます。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4467" y="4737081"/>
            <a:ext cx="2282173" cy="2290540"/>
          </a:xfrm>
          <a:prstGeom prst="roundRect">
            <a:avLst>
              <a:gd name="adj" fmla="val 4007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53923" y="4956537"/>
            <a:ext cx="18432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フラッシュカード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3923" y="5340585"/>
            <a:ext cx="1843261" cy="14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単語をめくりながら確認。習得度順、品詞順、保存済みの単語で学習できます。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2495" y="4737081"/>
            <a:ext cx="2282173" cy="2290540"/>
          </a:xfrm>
          <a:prstGeom prst="roundRect">
            <a:avLst>
              <a:gd name="adj" fmla="val 4007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281951" y="4956537"/>
            <a:ext cx="18432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保存済み単語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81951" y="5340585"/>
            <a:ext cx="1843261" cy="14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気になる単語だけを保存して、カードや10問クイズですぐに復習できます。</a:t>
            </a:r>
            <a:endParaRPr lang="en-US" sz="1050" dirty="0"/>
          </a:p>
        </p:txBody>
      </p:sp>
      <p:pic>
        <p:nvPicPr>
          <p:cNvPr id="17" name="Image 0" descr="output/pptx/shots/quiz-dem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90523" y="2200686"/>
            <a:ext cx="4564346" cy="446117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590523" y="6735013"/>
            <a:ext cx="45643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登録なしで試せるデモ（LPの実画面）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467" y="415915"/>
            <a:ext cx="9620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4467" y="671947"/>
            <a:ext cx="9620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スワイプするだけで、単語に出会う。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34467" y="1588038"/>
            <a:ext cx="69266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みんなが公開した単語帳と公式単語帳の単語が、1枚ずつ流れてくる縦スクロールのフィードです。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4467" y="1994946"/>
            <a:ext cx="3340417" cy="1927583"/>
          </a:xfrm>
          <a:prstGeom prst="roundRect">
            <a:avLst>
              <a:gd name="adj" fmla="val 474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53923" y="2177826"/>
            <a:ext cx="290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縦スワイプで、次の単語へ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3923" y="2653314"/>
            <a:ext cx="2901506" cy="1068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公開されている単語帳と公式単語帳から、単語が1枚ずつ流れてきます。すき間時間にスクロールするだけで新しい語彙に出会えます。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20739" y="1994946"/>
            <a:ext cx="3340417" cy="1927583"/>
          </a:xfrm>
          <a:prstGeom prst="roundRect">
            <a:avLst>
              <a:gd name="adj" fmla="val 474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40195" y="2177826"/>
            <a:ext cx="290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めくって意味を確認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40195" y="2653314"/>
            <a:ext cx="2901506" cy="1068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表は英単語と発音記号だけ。左右のスワイプかタップで和訳の面に切り替わります。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4467" y="4168384"/>
            <a:ext cx="3340417" cy="1927583"/>
          </a:xfrm>
          <a:prstGeom prst="roundRect">
            <a:avLst>
              <a:gd name="adj" fmla="val 474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53923" y="4351264"/>
            <a:ext cx="290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語源つきカードは1画面で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3923" y="4826752"/>
            <a:ext cx="2901506" cy="1068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接頭辞・語根・接尾辞の組み立てと解説をまとめて表示。丸暗記にしないための手がかりが付きます。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20739" y="4168384"/>
            <a:ext cx="3340417" cy="1927583"/>
          </a:xfrm>
          <a:prstGeom prst="roundRect">
            <a:avLst>
              <a:gd name="adj" fmla="val 474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340195" y="4351264"/>
            <a:ext cx="290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出典の単語帳をワンタップで取り込み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40195" y="4826752"/>
            <a:ext cx="2901506" cy="1068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カードの下には、その単語が入っている単語帳と作成者が出ます。気に入ればまるごと追加できます。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4467" y="6341821"/>
            <a:ext cx="6926690" cy="68580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8787" y="6520129"/>
            <a:ext cx="6378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リールの閲覧は無料プランでも1日50枚まで（要ログイン）。Proは上限なし・広告なし。</a:t>
            </a:r>
            <a:endParaRPr lang="en-US" sz="1200" dirty="0"/>
          </a:p>
        </p:txBody>
      </p:sp>
      <p:pic>
        <p:nvPicPr>
          <p:cNvPr id="19" name="Image 0" descr="output/pptx/shots/reel-ph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07011" y="1588038"/>
            <a:ext cx="2447858" cy="54395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467" y="415915"/>
            <a:ext cx="9620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4467" y="671947"/>
            <a:ext cx="9620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ホームで、今日やることがすぐ見える。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34467" y="1588038"/>
            <a:ext cx="577224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単語帳、習得度、連続日数、保存済み単語へアクセスできます。学習の入口をホームに集約し、スキャンから復習まで迷わない構成にしています。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4467" y="2200686"/>
            <a:ext cx="5772241" cy="1022343"/>
          </a:xfrm>
          <a:prstGeom prst="roundRect">
            <a:avLst>
              <a:gd name="adj" fmla="val 894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0499" y="2364261"/>
            <a:ext cx="5260177" cy="36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習得度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90499" y="2752752"/>
            <a:ext cx="5260177" cy="34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習得、学習中、未学習を単語ごとに管理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4467" y="3468884"/>
            <a:ext cx="5772241" cy="1022343"/>
          </a:xfrm>
          <a:prstGeom prst="roundRect">
            <a:avLst>
              <a:gd name="adj" fmla="val 894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90499" y="3632459"/>
            <a:ext cx="5260177" cy="36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連続日数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0499" y="4020949"/>
            <a:ext cx="5260177" cy="34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毎日の学習をホームで確認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4467" y="4737081"/>
            <a:ext cx="5772241" cy="1022343"/>
          </a:xfrm>
          <a:prstGeom prst="roundRect">
            <a:avLst>
              <a:gd name="adj" fmla="val 894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90499" y="4900656"/>
            <a:ext cx="5260177" cy="36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マイ単語帳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0499" y="5289146"/>
            <a:ext cx="5260177" cy="34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直近の単語帳をホームから開ける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4467" y="6005279"/>
            <a:ext cx="5772241" cy="1022343"/>
          </a:xfrm>
          <a:prstGeom prst="roundRect">
            <a:avLst>
              <a:gd name="adj" fmla="val 8944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90499" y="6168853"/>
            <a:ext cx="5260177" cy="36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保存済み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0499" y="6557344"/>
            <a:ext cx="5260177" cy="34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あとで見返したい単語だけを集めて復習</a:t>
            </a:r>
            <a:endParaRPr lang="en-US" sz="1050" dirty="0"/>
          </a:p>
        </p:txBody>
      </p:sp>
      <p:pic>
        <p:nvPicPr>
          <p:cNvPr id="17" name="Image 0" descr="public/lp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52563" y="1588038"/>
            <a:ext cx="3602306" cy="54395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467" y="415915"/>
            <a:ext cx="9620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buNone/>
            </a:pPr>
            <a:r>
              <a:rPr lang="en-US" sz="1100" b="1" spc="15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4467" y="671947"/>
            <a:ext cx="9620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無料で始めて、必要ならProへ。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34467" y="1588038"/>
            <a:ext cx="96204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まずは無料で試し、AIスキャンや同期が必要になったらProへ切り替えられます。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4467" y="1994946"/>
            <a:ext cx="4687274" cy="5032675"/>
          </a:xfrm>
          <a:prstGeom prst="roundRect">
            <a:avLst>
              <a:gd name="adj" fmla="val 1951"/>
            </a:avLst>
          </a:prstGeom>
          <a:solidFill>
            <a:srgbClr val="FAF7F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4507" y="2250978"/>
            <a:ext cx="4047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54507" y="2525298"/>
            <a:ext cx="40471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まず試す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54507" y="3000786"/>
            <a:ext cx="40471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buNone/>
            </a:pPr>
            <a:r>
              <a:rPr lang="en-US" sz="1300" b="1" dirty="0">
                <a:solidFill>
                  <a:srgbClr val="8A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円 / 月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54507" y="3686586"/>
            <a:ext cx="4047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共有ライブラリの単語帳で、基本の復習を試すためのプランです。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54507" y="4235226"/>
            <a:ext cx="4047194" cy="24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共有単語帳のインポート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100単語まで保存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ローカル保存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基本の単語帳・クイズ・カード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67595" y="1994946"/>
            <a:ext cx="4687274" cy="5032675"/>
          </a:xfrm>
          <a:prstGeom prst="roundRect">
            <a:avLst>
              <a:gd name="adj" fmla="val 1951"/>
            </a:avLst>
          </a:prstGeom>
          <a:solidFill>
            <a:srgbClr val="1A1A1A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635" dir="2700000">
              <a:srgbClr val="1A1A1A">
                <a:alpha val="10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787635" y="2250978"/>
            <a:ext cx="4047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787635" y="2525298"/>
            <a:ext cx="40471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もっと続ける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787635" y="3000786"/>
            <a:ext cx="40471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pPr indent="0" marL="0">
              <a:buNone/>
            </a:pPr>
            <a:r>
              <a:rPr lang="en-US" sz="1300" b="1" dirty="0">
                <a:solidFill>
                  <a:srgbClr val="C9C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円 / 月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5787635" y="3686586"/>
            <a:ext cx="4047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C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撮るだけ単語帳、複数端末、クラウド同期が必要な人向けのプランです。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787635" y="4235226"/>
            <a:ext cx="4047194" cy="2472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AIスキャン無制限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クラウド同期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マルチデバイス対応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データ永続化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467" y="2117385"/>
            <a:ext cx="96204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34467" y="2571110"/>
            <a:ext cx="7696322" cy="1814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単語帳を、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もう手で作らなくていい。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34467" y="4688495"/>
            <a:ext cx="6926690" cy="83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4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ブラウザからすぐに開始できます。メールOTP、Google、Appleのいずれかで登録し、最初の単語帳を作成してください。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4467" y="5822808"/>
            <a:ext cx="2103120" cy="603504"/>
          </a:xfrm>
          <a:prstGeom prst="roundRect">
            <a:avLst>
              <a:gd name="adj" fmla="val 15152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4467" y="5955579"/>
            <a:ext cx="210312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無料で始める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57627" y="59736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www.merken.jp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MERKEN サービス紹介</dc:title>
  <dc:subject>PptxGenJS Presentation</dc:subject>
  <dc:creator>MERKEN</dc:creator>
  <cp:lastModifiedBy>MERKEN</cp:lastModifiedBy>
  <cp:revision>1</cp:revision>
  <dcterms:created xsi:type="dcterms:W3CDTF">2026-08-28T16:45:54Z</dcterms:created>
  <dcterms:modified xsi:type="dcterms:W3CDTF">2026-08-28T16:45:54Z</dcterms:modified>
</cp:coreProperties>
</file>